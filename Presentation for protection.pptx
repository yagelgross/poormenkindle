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4" r:id="rId7"/>
    <p:sldId id="261" r:id="rId8"/>
    <p:sldId id="262" r:id="rId9"/>
    <p:sldId id="263"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78"/>
    <p:restoredTop sz="94687"/>
  </p:normalViewPr>
  <p:slideViewPr>
    <p:cSldViewPr snapToGrid="0">
      <p:cViewPr varScale="1">
        <p:scale>
          <a:sx n="104" d="100"/>
          <a:sy n="104" d="100"/>
        </p:scale>
        <p:origin x="80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5CB3CD-B0A9-9B48-8D92-5C9BA64E899F}"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1884865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5CB3CD-B0A9-9B48-8D92-5C9BA64E899F}"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2326990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5CB3CD-B0A9-9B48-8D92-5C9BA64E899F}"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4083655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5CB3CD-B0A9-9B48-8D92-5C9BA64E899F}"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1246438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5CB3CD-B0A9-9B48-8D92-5C9BA64E899F}" type="datetimeFigureOut">
              <a:rPr lang="en-US" smtClean="0"/>
              <a:t>3/15/26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2385242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5CB3CD-B0A9-9B48-8D92-5C9BA64E899F}" type="datetimeFigureOut">
              <a:rPr lang="en-US" smtClean="0"/>
              <a:t>3/15/26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621460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5CB3CD-B0A9-9B48-8D92-5C9BA64E899F}" type="datetimeFigureOut">
              <a:rPr lang="en-US" smtClean="0"/>
              <a:t>3/15/26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996442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5CB3CD-B0A9-9B48-8D92-5C9BA64E899F}"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2690740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B35CB3CD-B0A9-9B48-8D92-5C9BA64E899F}" type="datetimeFigureOut">
              <a:rPr lang="en-US" smtClean="0"/>
              <a:t>3/15/26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1056449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5CB3CD-B0A9-9B48-8D92-5C9BA64E899F}"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195202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B35CB3CD-B0A9-9B48-8D92-5C9BA64E899F}"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8600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B35CB3CD-B0A9-9B48-8D92-5C9BA64E899F}" type="datetimeFigureOut">
              <a:rPr lang="en-US" smtClean="0"/>
              <a:t>3/15/26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1100740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5CB3CD-B0A9-9B48-8D92-5C9BA64E899F}"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845257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5CB3CD-B0A9-9B48-8D92-5C9BA64E899F}"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9361B-8169-8C4B-9CA7-C0221EF55D83}" type="slidenum">
              <a:rPr lang="en-US" smtClean="0"/>
              <a:t>‹#›</a:t>
            </a:fld>
            <a:endParaRPr lang="en-US"/>
          </a:p>
        </p:txBody>
      </p:sp>
    </p:spTree>
    <p:extLst>
      <p:ext uri="{BB962C8B-B14F-4D97-AF65-F5344CB8AC3E}">
        <p14:creationId xmlns:p14="http://schemas.microsoft.com/office/powerpoint/2010/main" val="273748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B35CB3CD-B0A9-9B48-8D92-5C9BA64E899F}" type="datetimeFigureOut">
              <a:rPr lang="en-US" smtClean="0"/>
              <a:t>3/15/26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FA09361B-8169-8C4B-9CA7-C0221EF55D83}" type="slidenum">
              <a:rPr lang="en-US" smtClean="0"/>
              <a:t>‹#›</a:t>
            </a:fld>
            <a:endParaRPr lang="en-US"/>
          </a:p>
        </p:txBody>
      </p:sp>
    </p:spTree>
    <p:extLst>
      <p:ext uri="{BB962C8B-B14F-4D97-AF65-F5344CB8AC3E}">
        <p14:creationId xmlns:p14="http://schemas.microsoft.com/office/powerpoint/2010/main" val="716548277"/>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301AD-29C5-BE55-74EE-35AE6A3BC2DA}"/>
              </a:ext>
            </a:extLst>
          </p:cNvPr>
          <p:cNvSpPr>
            <a:spLocks noGrp="1"/>
          </p:cNvSpPr>
          <p:nvPr>
            <p:ph type="ctrTitle"/>
          </p:nvPr>
        </p:nvSpPr>
        <p:spPr/>
        <p:txBody>
          <a:bodyPr/>
          <a:lstStyle/>
          <a:p>
            <a:r>
              <a:rPr lang="en-US" dirty="0"/>
              <a:t>Poor Man’s Kindle</a:t>
            </a:r>
          </a:p>
        </p:txBody>
      </p:sp>
      <p:sp>
        <p:nvSpPr>
          <p:cNvPr id="3" name="Subtitle 2">
            <a:extLst>
              <a:ext uri="{FF2B5EF4-FFF2-40B4-BE49-F238E27FC236}">
                <a16:creationId xmlns:a16="http://schemas.microsoft.com/office/drawing/2014/main" id="{F3CAEE54-258F-75F3-3D5C-A3C6FC26D613}"/>
              </a:ext>
            </a:extLst>
          </p:cNvPr>
          <p:cNvSpPr>
            <a:spLocks noGrp="1"/>
          </p:cNvSpPr>
          <p:nvPr>
            <p:ph type="subTitle" idx="1"/>
          </p:nvPr>
        </p:nvSpPr>
        <p:spPr/>
        <p:txBody>
          <a:bodyPr/>
          <a:lstStyle/>
          <a:p>
            <a:r>
              <a:rPr lang="en-US" dirty="0"/>
              <a:t>Presenting: Yagel Gross and Noam Asher</a:t>
            </a:r>
          </a:p>
        </p:txBody>
      </p:sp>
      <p:sp>
        <p:nvSpPr>
          <p:cNvPr id="7" name="TextBox 6">
            <a:extLst>
              <a:ext uri="{FF2B5EF4-FFF2-40B4-BE49-F238E27FC236}">
                <a16:creationId xmlns:a16="http://schemas.microsoft.com/office/drawing/2014/main" id="{30E925E3-F642-C62F-1159-6313273F698D}"/>
              </a:ext>
            </a:extLst>
          </p:cNvPr>
          <p:cNvSpPr txBox="1"/>
          <p:nvPr/>
        </p:nvSpPr>
        <p:spPr>
          <a:xfrm>
            <a:off x="11255343" y="271849"/>
            <a:ext cx="655950" cy="369332"/>
          </a:xfrm>
          <a:prstGeom prst="rect">
            <a:avLst/>
          </a:prstGeom>
          <a:noFill/>
        </p:spPr>
        <p:txBody>
          <a:bodyPr wrap="none" rtlCol="0">
            <a:spAutoFit/>
          </a:bodyPr>
          <a:lstStyle/>
          <a:p>
            <a:pPr marL="0" algn="r" defTabSz="914400" rtl="1" eaLnBrk="1" latinLnBrk="0" hangingPunct="1"/>
            <a:r>
              <a:rPr lang="he-IL" dirty="0"/>
              <a:t>בס״ד</a:t>
            </a:r>
            <a:endParaRPr lang="en-US" dirty="0"/>
          </a:p>
        </p:txBody>
      </p:sp>
    </p:spTree>
    <p:extLst>
      <p:ext uri="{BB962C8B-B14F-4D97-AF65-F5344CB8AC3E}">
        <p14:creationId xmlns:p14="http://schemas.microsoft.com/office/powerpoint/2010/main" val="422723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651A8-F8F8-698E-F337-997CB2022D35}"/>
              </a:ext>
            </a:extLst>
          </p:cNvPr>
          <p:cNvSpPr>
            <a:spLocks noGrp="1"/>
          </p:cNvSpPr>
          <p:nvPr>
            <p:ph type="title"/>
          </p:nvPr>
        </p:nvSpPr>
        <p:spPr/>
        <p:txBody>
          <a:bodyPr/>
          <a:lstStyle/>
          <a:p>
            <a:r>
              <a:rPr lang="en-US" dirty="0"/>
              <a:t>So what is our project and what does it include?</a:t>
            </a:r>
          </a:p>
        </p:txBody>
      </p:sp>
      <p:sp>
        <p:nvSpPr>
          <p:cNvPr id="3" name="Content Placeholder 2">
            <a:extLst>
              <a:ext uri="{FF2B5EF4-FFF2-40B4-BE49-F238E27FC236}">
                <a16:creationId xmlns:a16="http://schemas.microsoft.com/office/drawing/2014/main" id="{6E2FE63E-E795-6394-B72E-6F92F9847881}"/>
              </a:ext>
            </a:extLst>
          </p:cNvPr>
          <p:cNvSpPr>
            <a:spLocks noGrp="1"/>
          </p:cNvSpPr>
          <p:nvPr>
            <p:ph idx="1"/>
          </p:nvPr>
        </p:nvSpPr>
        <p:spPr/>
        <p:txBody>
          <a:bodyPr>
            <a:normAutofit lnSpcReduction="10000"/>
          </a:bodyPr>
          <a:lstStyle/>
          <a:p>
            <a:r>
              <a:rPr lang="en-US" dirty="0"/>
              <a:t>Our project is a private digital library, implemented by using python, for browsing and reading a catalog of books from a remote server. The idea was to use the transport layer protocols to transfer pieces of the book the user is reading, while focusing on reliability and multiple clients connected at once by using threading and smart testing. </a:t>
            </a:r>
          </a:p>
          <a:p>
            <a:r>
              <a:rPr lang="en-US" dirty="0"/>
              <a:t>The server is able to handle as many clients as needed in theory, and is capable of delivering the packets in 2 ways: either the TCP protocol (much more convenient due to built in multiple connections socket handling and packet chunking), and the RUDP protocol (which is far less intuitive and requires us to handle every client in a unique way through address identification as well as implementing multiple reliability measures).</a:t>
            </a:r>
          </a:p>
          <a:p>
            <a:r>
              <a:rPr lang="en-US" dirty="0"/>
              <a:t>We have also implemented a DHCP server that will respond to any and all devices seeking an IP address, and a private DNS server with a single private URL handling and upstreaming to Cloudflare otherwise.</a:t>
            </a:r>
          </a:p>
        </p:txBody>
      </p:sp>
      <p:sp>
        <p:nvSpPr>
          <p:cNvPr id="4" name="TextBox 3">
            <a:extLst>
              <a:ext uri="{FF2B5EF4-FFF2-40B4-BE49-F238E27FC236}">
                <a16:creationId xmlns:a16="http://schemas.microsoft.com/office/drawing/2014/main" id="{91079BBF-C4D0-3285-307B-73BBC0EF9BD5}"/>
              </a:ext>
            </a:extLst>
          </p:cNvPr>
          <p:cNvSpPr txBox="1"/>
          <p:nvPr/>
        </p:nvSpPr>
        <p:spPr>
          <a:xfrm>
            <a:off x="11410037" y="185351"/>
            <a:ext cx="649537" cy="369332"/>
          </a:xfrm>
          <a:prstGeom prst="rect">
            <a:avLst/>
          </a:prstGeom>
          <a:noFill/>
        </p:spPr>
        <p:txBody>
          <a:bodyPr wrap="none" rtlCol="0">
            <a:spAutoFit/>
          </a:bodyPr>
          <a:lstStyle/>
          <a:p>
            <a:pPr marL="0" algn="r" defTabSz="457200" rtl="1" eaLnBrk="1" latinLnBrk="0" hangingPunct="1"/>
            <a:r>
              <a:rPr lang="he-IL" dirty="0"/>
              <a:t>בס״ד</a:t>
            </a:r>
            <a:endParaRPr lang="en-US" dirty="0"/>
          </a:p>
        </p:txBody>
      </p:sp>
    </p:spTree>
    <p:extLst>
      <p:ext uri="{BB962C8B-B14F-4D97-AF65-F5344CB8AC3E}">
        <p14:creationId xmlns:p14="http://schemas.microsoft.com/office/powerpoint/2010/main" val="3419082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362C9-C6C8-84FE-8E86-7B4DAAA5EA95}"/>
              </a:ext>
            </a:extLst>
          </p:cNvPr>
          <p:cNvSpPr>
            <a:spLocks noGrp="1"/>
          </p:cNvSpPr>
          <p:nvPr>
            <p:ph type="title"/>
          </p:nvPr>
        </p:nvSpPr>
        <p:spPr/>
        <p:txBody>
          <a:bodyPr/>
          <a:lstStyle/>
          <a:p>
            <a:pPr algn="l" defTabSz="457200" rtl="0" eaLnBrk="1" latinLnBrk="0" hangingPunct="1">
              <a:spcBef>
                <a:spcPct val="0"/>
              </a:spcBef>
              <a:buNone/>
            </a:pPr>
            <a:r>
              <a:rPr lang="en-US" dirty="0"/>
              <a:t>So what components comprise our library?</a:t>
            </a:r>
          </a:p>
        </p:txBody>
      </p:sp>
      <p:sp>
        <p:nvSpPr>
          <p:cNvPr id="3" name="Content Placeholder 2">
            <a:extLst>
              <a:ext uri="{FF2B5EF4-FFF2-40B4-BE49-F238E27FC236}">
                <a16:creationId xmlns:a16="http://schemas.microsoft.com/office/drawing/2014/main" id="{BE89AE01-CA5C-C5F0-7D8F-9C23D84DE9D2}"/>
              </a:ext>
            </a:extLst>
          </p:cNvPr>
          <p:cNvSpPr>
            <a:spLocks noGrp="1"/>
          </p:cNvSpPr>
          <p:nvPr>
            <p:ph idx="1"/>
          </p:nvPr>
        </p:nvSpPr>
        <p:spPr/>
        <p:txBody>
          <a:bodyPr/>
          <a:lstStyle/>
          <a:p>
            <a:pPr>
              <a:buFont typeface="+mj-lt"/>
              <a:buAutoNum type="arabicPeriod"/>
            </a:pPr>
            <a:r>
              <a:rPr lang="en-US" dirty="0"/>
              <a:t>Application Server.</a:t>
            </a:r>
          </a:p>
          <a:p>
            <a:pPr>
              <a:buFont typeface="+mj-lt"/>
              <a:buAutoNum type="arabicPeriod"/>
            </a:pPr>
            <a:r>
              <a:rPr lang="en-US" dirty="0"/>
              <a:t>DHCP Server.</a:t>
            </a:r>
          </a:p>
          <a:p>
            <a:pPr>
              <a:buFont typeface="+mj-lt"/>
              <a:buAutoNum type="arabicPeriod"/>
            </a:pPr>
            <a:r>
              <a:rPr lang="en-US" dirty="0"/>
              <a:t>DNS Server.</a:t>
            </a:r>
          </a:p>
          <a:p>
            <a:pPr>
              <a:buFont typeface="+mj-lt"/>
              <a:buAutoNum type="arabicPeriod"/>
            </a:pPr>
            <a:r>
              <a:rPr lang="en-US" dirty="0"/>
              <a:t>Client (Simple Gui).</a:t>
            </a:r>
          </a:p>
          <a:p>
            <a:pPr>
              <a:buFont typeface="+mj-lt"/>
              <a:buAutoNum type="arabicPeriod"/>
            </a:pPr>
            <a:r>
              <a:rPr lang="en-US" dirty="0"/>
              <a:t>3 Objects: Client, DHCPIPPool and Book.</a:t>
            </a:r>
          </a:p>
          <a:p>
            <a:pPr>
              <a:buFont typeface="+mj-lt"/>
              <a:buAutoNum type="arabicPeriod"/>
            </a:pPr>
            <a:r>
              <a:rPr lang="en-US" dirty="0"/>
              <a:t>Util class to handle a basic encryption.</a:t>
            </a:r>
          </a:p>
          <a:p>
            <a:pPr>
              <a:buFont typeface="+mj-lt"/>
              <a:buAutoNum type="arabicPeriod"/>
            </a:pPr>
            <a:r>
              <a:rPr lang="en-US" dirty="0"/>
              <a:t>Network Manager.</a:t>
            </a:r>
          </a:p>
          <a:p>
            <a:pPr>
              <a:buFont typeface="+mj-lt"/>
              <a:buAutoNum type="arabicPeriod"/>
            </a:pPr>
            <a:r>
              <a:rPr lang="en-US" dirty="0"/>
              <a:t>Protocol.</a:t>
            </a:r>
          </a:p>
          <a:p>
            <a:pPr>
              <a:buFont typeface="+mj-lt"/>
              <a:buAutoNum type="arabicPeriod"/>
            </a:pPr>
            <a:r>
              <a:rPr lang="en-US" dirty="0"/>
              <a:t>UDP proxy ( to test reliability)</a:t>
            </a:r>
          </a:p>
        </p:txBody>
      </p:sp>
      <p:sp>
        <p:nvSpPr>
          <p:cNvPr id="4" name="TextBox 3">
            <a:extLst>
              <a:ext uri="{FF2B5EF4-FFF2-40B4-BE49-F238E27FC236}">
                <a16:creationId xmlns:a16="http://schemas.microsoft.com/office/drawing/2014/main" id="{CE0DCEC1-3E98-3793-B040-D87772FC141A}"/>
              </a:ext>
            </a:extLst>
          </p:cNvPr>
          <p:cNvSpPr txBox="1"/>
          <p:nvPr/>
        </p:nvSpPr>
        <p:spPr>
          <a:xfrm>
            <a:off x="11373286" y="77856"/>
            <a:ext cx="649537" cy="369332"/>
          </a:xfrm>
          <a:prstGeom prst="rect">
            <a:avLst/>
          </a:prstGeom>
          <a:noFill/>
        </p:spPr>
        <p:txBody>
          <a:bodyPr wrap="none" rtlCol="0">
            <a:spAutoFit/>
          </a:bodyPr>
          <a:lstStyle/>
          <a:p>
            <a:r>
              <a:rPr lang="he-IL" dirty="0"/>
              <a:t>בס״ד</a:t>
            </a:r>
            <a:endParaRPr lang="en-US" dirty="0"/>
          </a:p>
        </p:txBody>
      </p:sp>
    </p:spTree>
    <p:extLst>
      <p:ext uri="{BB962C8B-B14F-4D97-AF65-F5344CB8AC3E}">
        <p14:creationId xmlns:p14="http://schemas.microsoft.com/office/powerpoint/2010/main" val="1217249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175C7-415F-00D3-D555-EAB47D607EF2}"/>
              </a:ext>
            </a:extLst>
          </p:cNvPr>
          <p:cNvSpPr>
            <a:spLocks noGrp="1"/>
          </p:cNvSpPr>
          <p:nvPr>
            <p:ph type="title"/>
          </p:nvPr>
        </p:nvSpPr>
        <p:spPr/>
        <p:txBody>
          <a:bodyPr/>
          <a:lstStyle/>
          <a:p>
            <a:r>
              <a:rPr lang="en-US" dirty="0"/>
              <a:t>DNS Server</a:t>
            </a:r>
          </a:p>
        </p:txBody>
      </p:sp>
      <p:sp>
        <p:nvSpPr>
          <p:cNvPr id="3" name="Content Placeholder 2">
            <a:extLst>
              <a:ext uri="{FF2B5EF4-FFF2-40B4-BE49-F238E27FC236}">
                <a16:creationId xmlns:a16="http://schemas.microsoft.com/office/drawing/2014/main" id="{62831E12-57EC-C716-D8A4-DBCAD86F6B89}"/>
              </a:ext>
            </a:extLst>
          </p:cNvPr>
          <p:cNvSpPr>
            <a:spLocks noGrp="1"/>
          </p:cNvSpPr>
          <p:nvPr>
            <p:ph idx="1"/>
          </p:nvPr>
        </p:nvSpPr>
        <p:spPr/>
        <p:txBody>
          <a:bodyPr/>
          <a:lstStyle/>
          <a:p>
            <a:pPr marL="0" indent="0">
              <a:buNone/>
            </a:pPr>
            <a:r>
              <a:rPr lang="en-US" dirty="0"/>
              <a:t>We have implemented a private DNS (partly DoH) server that runs locally on our computer in conjunction with the DHCP and Application servers, so that every client that receives an IP address distributed by our DHCP server will have our DNS server as his DNS server.</a:t>
            </a:r>
          </a:p>
          <a:p>
            <a:pPr marL="0" indent="0">
              <a:buNone/>
            </a:pPr>
            <a:r>
              <a:rPr lang="en-US" dirty="0"/>
              <a:t>In the server, we implemented 1 single private URL, so that if the client is looking to connect to the server and doesn’t know on what IP address it’s located, it can instead enter the URL “books.server” and receive the IP address of the machine where the Application server is running and thus connect to it. </a:t>
            </a:r>
          </a:p>
          <a:p>
            <a:pPr marL="0" indent="0">
              <a:buNone/>
            </a:pPr>
            <a:r>
              <a:rPr lang="en-US" dirty="0"/>
              <a:t>Every other DNS request will be upstreamed to CloudFlare’s servers and receive their answer.</a:t>
            </a:r>
          </a:p>
          <a:p>
            <a:pPr marL="0" indent="0">
              <a:buNone/>
            </a:pPr>
            <a:r>
              <a:rPr lang="en-US" dirty="0"/>
              <a:t>The upstreaming is done by using DoH so that the traffic through the network is secured.</a:t>
            </a:r>
          </a:p>
        </p:txBody>
      </p:sp>
      <p:sp>
        <p:nvSpPr>
          <p:cNvPr id="4" name="TextBox 3">
            <a:extLst>
              <a:ext uri="{FF2B5EF4-FFF2-40B4-BE49-F238E27FC236}">
                <a16:creationId xmlns:a16="http://schemas.microsoft.com/office/drawing/2014/main" id="{EF2EC148-44A8-2E06-C720-5CAC4ECF91A5}"/>
              </a:ext>
            </a:extLst>
          </p:cNvPr>
          <p:cNvSpPr txBox="1"/>
          <p:nvPr/>
        </p:nvSpPr>
        <p:spPr>
          <a:xfrm>
            <a:off x="11150545" y="234778"/>
            <a:ext cx="649537" cy="369332"/>
          </a:xfrm>
          <a:prstGeom prst="rect">
            <a:avLst/>
          </a:prstGeom>
          <a:noFill/>
        </p:spPr>
        <p:txBody>
          <a:bodyPr wrap="none" rtlCol="0">
            <a:spAutoFit/>
          </a:bodyPr>
          <a:lstStyle/>
          <a:p>
            <a:pPr marL="0" algn="r" defTabSz="457200" rtl="1" eaLnBrk="1" latinLnBrk="0" hangingPunct="1"/>
            <a:r>
              <a:rPr lang="he-IL" dirty="0"/>
              <a:t>בס״ד</a:t>
            </a:r>
            <a:endParaRPr lang="en-US" dirty="0"/>
          </a:p>
        </p:txBody>
      </p:sp>
    </p:spTree>
    <p:extLst>
      <p:ext uri="{BB962C8B-B14F-4D97-AF65-F5344CB8AC3E}">
        <p14:creationId xmlns:p14="http://schemas.microsoft.com/office/powerpoint/2010/main" val="3458066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DB4B-F450-C67E-DE36-BC3F5C6B0C99}"/>
              </a:ext>
            </a:extLst>
          </p:cNvPr>
          <p:cNvSpPr>
            <a:spLocks noGrp="1"/>
          </p:cNvSpPr>
          <p:nvPr>
            <p:ph type="title"/>
          </p:nvPr>
        </p:nvSpPr>
        <p:spPr/>
        <p:txBody>
          <a:bodyPr/>
          <a:lstStyle/>
          <a:p>
            <a:pPr algn="l" defTabSz="457200" rtl="0" eaLnBrk="1" latinLnBrk="0" hangingPunct="1">
              <a:spcBef>
                <a:spcPct val="0"/>
              </a:spcBef>
              <a:buNone/>
            </a:pPr>
            <a:r>
              <a:rPr lang="en-US" dirty="0"/>
              <a:t>DHCP server</a:t>
            </a:r>
          </a:p>
        </p:txBody>
      </p:sp>
      <p:sp>
        <p:nvSpPr>
          <p:cNvPr id="3" name="Content Placeholder 2">
            <a:extLst>
              <a:ext uri="{FF2B5EF4-FFF2-40B4-BE49-F238E27FC236}">
                <a16:creationId xmlns:a16="http://schemas.microsoft.com/office/drawing/2014/main" id="{FA56B804-FE93-BF17-EA3D-A726BF9F08AA}"/>
              </a:ext>
            </a:extLst>
          </p:cNvPr>
          <p:cNvSpPr>
            <a:spLocks noGrp="1"/>
          </p:cNvSpPr>
          <p:nvPr>
            <p:ph idx="1"/>
          </p:nvPr>
        </p:nvSpPr>
        <p:spPr/>
        <p:txBody>
          <a:bodyPr/>
          <a:lstStyle/>
          <a:p>
            <a:pPr marL="0" indent="0">
              <a:buNone/>
            </a:pPr>
            <a:r>
              <a:rPr lang="en-US" dirty="0"/>
              <a:t>The DHCP server we have implemented is running in conjunction to the router, and is operated thusly: first, we locate the IP base of the network we are using. This is done by sending an empty packet to Google's servers and extracting the IP address from the response. Then, we extract the gateway and netmask by using the netifaces python library. Once we have all of this information, we can initiate an object called DHCPIPPool, that handles an intelligent IP pool.</a:t>
            </a:r>
          </a:p>
          <a:p>
            <a:pPr marL="0" indent="0">
              <a:buNone/>
            </a:pPr>
            <a:r>
              <a:rPr lang="en-US" dirty="0"/>
              <a:t>The server is listening on the DHCP port (67) and responds to every single DHCP request that it catches. It doesn’t always beat the router, but it acts as a backup plan in case the router fails to answer. The way it works is receiving a request, finding an IP address from the pool, sending an ARP packet to that address and verifying it is available, and then broadcasting the offer through the 68 port. If the client replies that it has chosen our IP offer, we respond with a final confirmation, otherwise we do nothing.</a:t>
            </a:r>
          </a:p>
        </p:txBody>
      </p:sp>
      <p:sp>
        <p:nvSpPr>
          <p:cNvPr id="4" name="TextBox 3">
            <a:extLst>
              <a:ext uri="{FF2B5EF4-FFF2-40B4-BE49-F238E27FC236}">
                <a16:creationId xmlns:a16="http://schemas.microsoft.com/office/drawing/2014/main" id="{3BB64ABF-8859-8C4D-276E-286DBB411233}"/>
              </a:ext>
            </a:extLst>
          </p:cNvPr>
          <p:cNvSpPr txBox="1"/>
          <p:nvPr/>
        </p:nvSpPr>
        <p:spPr>
          <a:xfrm>
            <a:off x="11125832" y="383059"/>
            <a:ext cx="649537" cy="369332"/>
          </a:xfrm>
          <a:prstGeom prst="rect">
            <a:avLst/>
          </a:prstGeom>
          <a:noFill/>
        </p:spPr>
        <p:txBody>
          <a:bodyPr wrap="none" rtlCol="0">
            <a:spAutoFit/>
          </a:bodyPr>
          <a:lstStyle/>
          <a:p>
            <a:pPr marL="0" algn="r" defTabSz="457200" rtl="1" eaLnBrk="1" latinLnBrk="0" hangingPunct="1"/>
            <a:r>
              <a:rPr lang="he-IL" dirty="0"/>
              <a:t>בס״ד</a:t>
            </a:r>
            <a:endParaRPr lang="en-US" dirty="0"/>
          </a:p>
        </p:txBody>
      </p:sp>
    </p:spTree>
    <p:extLst>
      <p:ext uri="{BB962C8B-B14F-4D97-AF65-F5344CB8AC3E}">
        <p14:creationId xmlns:p14="http://schemas.microsoft.com/office/powerpoint/2010/main" val="3610591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6F56-CD68-3AF0-C8B7-97C80A49C895}"/>
              </a:ext>
            </a:extLst>
          </p:cNvPr>
          <p:cNvSpPr>
            <a:spLocks noGrp="1"/>
          </p:cNvSpPr>
          <p:nvPr>
            <p:ph type="title"/>
          </p:nvPr>
        </p:nvSpPr>
        <p:spPr/>
        <p:txBody>
          <a:bodyPr/>
          <a:lstStyle/>
          <a:p>
            <a:r>
              <a:rPr lang="en-US" dirty="0"/>
              <a:t>Client and Book objects</a:t>
            </a:r>
          </a:p>
        </p:txBody>
      </p:sp>
      <p:sp>
        <p:nvSpPr>
          <p:cNvPr id="3" name="Content Placeholder 2">
            <a:extLst>
              <a:ext uri="{FF2B5EF4-FFF2-40B4-BE49-F238E27FC236}">
                <a16:creationId xmlns:a16="http://schemas.microsoft.com/office/drawing/2014/main" id="{7E0962EC-6454-54E3-FDBF-AD59A495160A}"/>
              </a:ext>
            </a:extLst>
          </p:cNvPr>
          <p:cNvSpPr>
            <a:spLocks noGrp="1"/>
          </p:cNvSpPr>
          <p:nvPr>
            <p:ph idx="1"/>
          </p:nvPr>
        </p:nvSpPr>
        <p:spPr>
          <a:xfrm>
            <a:off x="5547556" y="2233222"/>
            <a:ext cx="6150498" cy="4748346"/>
          </a:xfrm>
        </p:spPr>
        <p:txBody>
          <a:bodyPr>
            <a:normAutofit fontScale="92500" lnSpcReduction="10000"/>
          </a:bodyPr>
          <a:lstStyle/>
          <a:p>
            <a:pPr marL="0" indent="0">
              <a:buNone/>
            </a:pPr>
            <a:r>
              <a:rPr lang="en-US" dirty="0"/>
              <a:t>The  client object is a representation of the data required for us to work with different users as well as the key to most of the features, such as remembering the last location on each book read.</a:t>
            </a:r>
          </a:p>
          <a:p>
            <a:pPr marL="0" indent="0">
              <a:buNone/>
            </a:pPr>
            <a:r>
              <a:rPr lang="en-US" dirty="0"/>
              <a:t>The parameters included are:</a:t>
            </a:r>
          </a:p>
          <a:p>
            <a:pPr>
              <a:buFont typeface="+mj-lt"/>
              <a:buAutoNum type="arabicPeriod"/>
            </a:pPr>
            <a:r>
              <a:rPr lang="en-US" dirty="0"/>
              <a:t>The login credentials: username and password (currently hardcoded into the server, in the future will be moved to a database as an extension).</a:t>
            </a:r>
          </a:p>
          <a:p>
            <a:pPr>
              <a:buFont typeface="+mj-lt"/>
              <a:buAutoNum type="arabicPeriod"/>
            </a:pPr>
            <a:r>
              <a:rPr lang="en-US" dirty="0"/>
              <a:t>Whether the client is an admin of the system (currently not used, will be in the future).</a:t>
            </a:r>
          </a:p>
          <a:p>
            <a:pPr>
              <a:buFont typeface="+mj-lt"/>
              <a:buAutoNum type="arabicPeriod"/>
            </a:pPr>
            <a:r>
              <a:rPr lang="en-US" dirty="0"/>
              <a:t>The last book the user read.</a:t>
            </a:r>
          </a:p>
          <a:p>
            <a:pPr>
              <a:buFont typeface="+mj-lt"/>
              <a:buAutoNum type="arabicPeriod"/>
            </a:pPr>
            <a:r>
              <a:rPr lang="en-US" dirty="0"/>
              <a:t>A dictionary which stores all the books this client has read during the current session of the server as well as the last location he was on each one.</a:t>
            </a:r>
          </a:p>
          <a:p>
            <a:pPr marL="0" indent="0">
              <a:buNone/>
            </a:pPr>
            <a:r>
              <a:rPr lang="en-US" dirty="0"/>
              <a:t>The class also contains getters for easier usage of the data.</a:t>
            </a:r>
          </a:p>
          <a:p>
            <a:pPr>
              <a:buFont typeface="+mj-lt"/>
              <a:buAutoNum type="arabicPeriod"/>
            </a:pPr>
            <a:endParaRPr lang="en-US" dirty="0"/>
          </a:p>
        </p:txBody>
      </p:sp>
      <p:sp>
        <p:nvSpPr>
          <p:cNvPr id="4" name="TextBox 3">
            <a:extLst>
              <a:ext uri="{FF2B5EF4-FFF2-40B4-BE49-F238E27FC236}">
                <a16:creationId xmlns:a16="http://schemas.microsoft.com/office/drawing/2014/main" id="{F271AC5D-9A25-209C-263F-E3703D0202E8}"/>
              </a:ext>
            </a:extLst>
          </p:cNvPr>
          <p:cNvSpPr txBox="1"/>
          <p:nvPr/>
        </p:nvSpPr>
        <p:spPr>
          <a:xfrm>
            <a:off x="11373286" y="262522"/>
            <a:ext cx="649537" cy="369332"/>
          </a:xfrm>
          <a:prstGeom prst="rect">
            <a:avLst/>
          </a:prstGeom>
          <a:noFill/>
        </p:spPr>
        <p:txBody>
          <a:bodyPr wrap="none" rtlCol="0">
            <a:spAutoFit/>
          </a:bodyPr>
          <a:lstStyle/>
          <a:p>
            <a:r>
              <a:rPr lang="he-IL" dirty="0"/>
              <a:t>בס״ד</a:t>
            </a:r>
            <a:endParaRPr lang="en-US" dirty="0"/>
          </a:p>
        </p:txBody>
      </p:sp>
      <p:sp>
        <p:nvSpPr>
          <p:cNvPr id="5" name="TextBox 4">
            <a:extLst>
              <a:ext uri="{FF2B5EF4-FFF2-40B4-BE49-F238E27FC236}">
                <a16:creationId xmlns:a16="http://schemas.microsoft.com/office/drawing/2014/main" id="{4E6D909F-9DC5-1E6E-808F-4967858846BB}"/>
              </a:ext>
            </a:extLst>
          </p:cNvPr>
          <p:cNvSpPr txBox="1"/>
          <p:nvPr/>
        </p:nvSpPr>
        <p:spPr>
          <a:xfrm>
            <a:off x="614597" y="2123560"/>
            <a:ext cx="4573436" cy="5078313"/>
          </a:xfrm>
          <a:prstGeom prst="rect">
            <a:avLst/>
          </a:prstGeom>
          <a:noFill/>
        </p:spPr>
        <p:txBody>
          <a:bodyPr wrap="square" rtlCol="0">
            <a:spAutoFit/>
          </a:bodyPr>
          <a:lstStyle/>
          <a:p>
            <a:r>
              <a:rPr lang="en-US" dirty="0"/>
              <a:t>The Book object is a representation of the data we need in order to utilize the file as best and as comfortably as we can. </a:t>
            </a:r>
          </a:p>
          <a:p>
            <a:r>
              <a:rPr lang="en-US" dirty="0"/>
              <a:t>The parameters included are:</a:t>
            </a:r>
          </a:p>
          <a:p>
            <a:pPr marL="342900" indent="-342900">
              <a:buFont typeface="+mj-lt"/>
              <a:buAutoNum type="arabicPeriod"/>
            </a:pPr>
            <a:r>
              <a:rPr lang="en-US" dirty="0"/>
              <a:t>the title.</a:t>
            </a:r>
          </a:p>
          <a:p>
            <a:pPr marL="342900" indent="-342900">
              <a:buFont typeface="+mj-lt"/>
              <a:buAutoNum type="arabicPeriod"/>
            </a:pPr>
            <a:r>
              <a:rPr lang="en-US" dirty="0"/>
              <a:t>the author.</a:t>
            </a:r>
          </a:p>
          <a:p>
            <a:pPr marL="342900" indent="-342900">
              <a:buFont typeface="+mj-lt"/>
              <a:buAutoNum type="arabicPeriod"/>
            </a:pPr>
            <a:r>
              <a:rPr lang="en-US" dirty="0"/>
              <a:t>how many chapters are in the book, which we utilize to know when there is no longer a need for the prefetch loop.</a:t>
            </a:r>
          </a:p>
          <a:p>
            <a:pPr marL="342900" indent="-342900">
              <a:buFont typeface="+mj-lt"/>
              <a:buAutoNum type="arabicPeriod"/>
            </a:pPr>
            <a:r>
              <a:rPr lang="en-US" dirty="0"/>
              <a:t>The file type, less needed in this version but necessary for future extension.</a:t>
            </a:r>
          </a:p>
          <a:p>
            <a:pPr marL="342900" indent="-342900">
              <a:buFont typeface="+mj-lt"/>
              <a:buAutoNum type="arabicPeriod"/>
            </a:pPr>
            <a:r>
              <a:rPr lang="en-US" dirty="0"/>
              <a:t>The path to the file itself.</a:t>
            </a:r>
          </a:p>
          <a:p>
            <a:pPr marL="342900" indent="-342900">
              <a:buFont typeface="+mj-lt"/>
              <a:buAutoNum type="arabicPeriod"/>
            </a:pPr>
            <a:r>
              <a:rPr lang="en-US" dirty="0"/>
              <a:t>The path to the cover image of the book.</a:t>
            </a:r>
          </a:p>
          <a:p>
            <a:pPr marL="342900" indent="-342900">
              <a:buFont typeface="+mj-lt"/>
              <a:buAutoNum type="arabicPeriod"/>
            </a:pPr>
            <a:endParaRPr lang="en-US" dirty="0"/>
          </a:p>
        </p:txBody>
      </p:sp>
      <p:sp>
        <p:nvSpPr>
          <p:cNvPr id="6" name="TextBox 5">
            <a:extLst>
              <a:ext uri="{FF2B5EF4-FFF2-40B4-BE49-F238E27FC236}">
                <a16:creationId xmlns:a16="http://schemas.microsoft.com/office/drawing/2014/main" id="{0A26D3AC-E654-F480-E4A3-01D468D3A595}"/>
              </a:ext>
            </a:extLst>
          </p:cNvPr>
          <p:cNvSpPr txBox="1"/>
          <p:nvPr/>
        </p:nvSpPr>
        <p:spPr>
          <a:xfrm>
            <a:off x="810000" y="1765468"/>
            <a:ext cx="854721" cy="369332"/>
          </a:xfrm>
          <a:prstGeom prst="rect">
            <a:avLst/>
          </a:prstGeom>
          <a:noFill/>
        </p:spPr>
        <p:txBody>
          <a:bodyPr wrap="none" rtlCol="0">
            <a:spAutoFit/>
          </a:bodyPr>
          <a:lstStyle/>
          <a:p>
            <a:r>
              <a:rPr lang="en-US" dirty="0"/>
              <a:t>BOOK</a:t>
            </a:r>
          </a:p>
        </p:txBody>
      </p:sp>
      <p:sp>
        <p:nvSpPr>
          <p:cNvPr id="7" name="TextBox 6">
            <a:extLst>
              <a:ext uri="{FF2B5EF4-FFF2-40B4-BE49-F238E27FC236}">
                <a16:creationId xmlns:a16="http://schemas.microsoft.com/office/drawing/2014/main" id="{FEFAD568-9B63-5CB3-BD27-56C625AD9C45}"/>
              </a:ext>
            </a:extLst>
          </p:cNvPr>
          <p:cNvSpPr txBox="1"/>
          <p:nvPr/>
        </p:nvSpPr>
        <p:spPr>
          <a:xfrm>
            <a:off x="5547556" y="1777393"/>
            <a:ext cx="835485" cy="369332"/>
          </a:xfrm>
          <a:prstGeom prst="rect">
            <a:avLst/>
          </a:prstGeom>
          <a:noFill/>
        </p:spPr>
        <p:txBody>
          <a:bodyPr wrap="none" rtlCol="0">
            <a:spAutoFit/>
          </a:bodyPr>
          <a:lstStyle/>
          <a:p>
            <a:r>
              <a:rPr lang="en-US" dirty="0"/>
              <a:t>Client</a:t>
            </a:r>
          </a:p>
        </p:txBody>
      </p:sp>
    </p:spTree>
    <p:extLst>
      <p:ext uri="{BB962C8B-B14F-4D97-AF65-F5344CB8AC3E}">
        <p14:creationId xmlns:p14="http://schemas.microsoft.com/office/powerpoint/2010/main" val="1772659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3F19-8AA3-FC42-3898-F36CDE200634}"/>
              </a:ext>
            </a:extLst>
          </p:cNvPr>
          <p:cNvSpPr>
            <a:spLocks noGrp="1"/>
          </p:cNvSpPr>
          <p:nvPr>
            <p:ph type="title"/>
          </p:nvPr>
        </p:nvSpPr>
        <p:spPr/>
        <p:txBody>
          <a:bodyPr/>
          <a:lstStyle/>
          <a:p>
            <a:r>
              <a:rPr lang="en-US" dirty="0"/>
              <a:t>Protocol</a:t>
            </a:r>
          </a:p>
        </p:txBody>
      </p:sp>
      <p:sp>
        <p:nvSpPr>
          <p:cNvPr id="3" name="Content Placeholder 2">
            <a:extLst>
              <a:ext uri="{FF2B5EF4-FFF2-40B4-BE49-F238E27FC236}">
                <a16:creationId xmlns:a16="http://schemas.microsoft.com/office/drawing/2014/main" id="{8BD14B4C-62CF-6AB4-73F2-9AEAB84E387B}"/>
              </a:ext>
            </a:extLst>
          </p:cNvPr>
          <p:cNvSpPr>
            <a:spLocks noGrp="1"/>
          </p:cNvSpPr>
          <p:nvPr>
            <p:ph idx="1"/>
          </p:nvPr>
        </p:nvSpPr>
        <p:spPr>
          <a:xfrm>
            <a:off x="818712" y="2222287"/>
            <a:ext cx="10554574" cy="4536859"/>
          </a:xfrm>
        </p:spPr>
        <p:txBody>
          <a:bodyPr>
            <a:normAutofit/>
          </a:bodyPr>
          <a:lstStyle/>
          <a:p>
            <a:pPr marL="0" indent="0">
              <a:buNone/>
            </a:pPr>
            <a:r>
              <a:rPr lang="en-US" dirty="0"/>
              <a:t>The protocol we have implemented acts as the shared communication infrastructure between the client and the server for the project, and is operated thusly: first, it establishes all the constants and possible message types for the system, covering everything from login actions and book requests to mid-reading progress updates. The basic structure of a message is formatted using a specific message type followed by data fields, all divided by a predefined separator.</a:t>
            </a:r>
          </a:p>
          <a:p>
            <a:pPr marL="0" indent="0">
              <a:buNone/>
            </a:pPr>
            <a:r>
              <a:rPr lang="en-US" dirty="0"/>
              <a:t>For the data transmission itself, the protocol provides helper functions for two different communication mechanisms. For TCP communication, we utilize a framing mechanism where messages are sent with a fixed 10-digit length header. The send_message and recv_message functions ensure we send and receive the exact number of bytes declared, allowing us to reliably transmit large payloads like entire book chapters. </a:t>
            </a:r>
          </a:p>
          <a:p>
            <a:pPr marL="0" indent="0">
              <a:buNone/>
            </a:pPr>
            <a:r>
              <a:rPr lang="en-US" dirty="0"/>
              <a:t>Concurrently, for RUDP data transfer, the protocol uses the struct library to pack and unpack binary headers. These headers are built with a sequence number, an acknowledgement number, and specific flags (like SYN, ACK, or DATA), and the encoded payload is then seamlessly attached to this header before sending.</a:t>
            </a:r>
          </a:p>
        </p:txBody>
      </p:sp>
      <p:sp>
        <p:nvSpPr>
          <p:cNvPr id="4" name="TextBox 3">
            <a:extLst>
              <a:ext uri="{FF2B5EF4-FFF2-40B4-BE49-F238E27FC236}">
                <a16:creationId xmlns:a16="http://schemas.microsoft.com/office/drawing/2014/main" id="{19DC1C25-5F29-7EF9-C37B-14800064A938}"/>
              </a:ext>
            </a:extLst>
          </p:cNvPr>
          <p:cNvSpPr txBox="1"/>
          <p:nvPr/>
        </p:nvSpPr>
        <p:spPr>
          <a:xfrm>
            <a:off x="11064048" y="296562"/>
            <a:ext cx="649537" cy="369332"/>
          </a:xfrm>
          <a:prstGeom prst="rect">
            <a:avLst/>
          </a:prstGeom>
          <a:noFill/>
        </p:spPr>
        <p:txBody>
          <a:bodyPr wrap="none" rtlCol="0">
            <a:spAutoFit/>
          </a:bodyPr>
          <a:lstStyle/>
          <a:p>
            <a:pPr marL="0" algn="r" defTabSz="457200" rtl="1" eaLnBrk="1" latinLnBrk="0" hangingPunct="1"/>
            <a:r>
              <a:rPr lang="he-IL" dirty="0"/>
              <a:t>בס״ד</a:t>
            </a:r>
            <a:endParaRPr lang="en-US" dirty="0"/>
          </a:p>
        </p:txBody>
      </p:sp>
    </p:spTree>
    <p:extLst>
      <p:ext uri="{BB962C8B-B14F-4D97-AF65-F5344CB8AC3E}">
        <p14:creationId xmlns:p14="http://schemas.microsoft.com/office/powerpoint/2010/main" val="3830666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B7C3A-07D9-08B2-F1E8-38CD472F9686}"/>
              </a:ext>
            </a:extLst>
          </p:cNvPr>
          <p:cNvSpPr>
            <a:spLocks noGrp="1"/>
          </p:cNvSpPr>
          <p:nvPr>
            <p:ph type="title"/>
          </p:nvPr>
        </p:nvSpPr>
        <p:spPr/>
        <p:txBody>
          <a:bodyPr/>
          <a:lstStyle/>
          <a:p>
            <a:r>
              <a:rPr lang="en-US" dirty="0"/>
              <a:t>Network Manager</a:t>
            </a:r>
          </a:p>
        </p:txBody>
      </p:sp>
      <p:sp>
        <p:nvSpPr>
          <p:cNvPr id="3" name="Content Placeholder 2">
            <a:extLst>
              <a:ext uri="{FF2B5EF4-FFF2-40B4-BE49-F238E27FC236}">
                <a16:creationId xmlns:a16="http://schemas.microsoft.com/office/drawing/2014/main" id="{EB22AC8E-EE41-27EC-667C-7570BC8FED18}"/>
              </a:ext>
            </a:extLst>
          </p:cNvPr>
          <p:cNvSpPr>
            <a:spLocks noGrp="1"/>
          </p:cNvSpPr>
          <p:nvPr>
            <p:ph idx="1"/>
          </p:nvPr>
        </p:nvSpPr>
        <p:spPr>
          <a:xfrm>
            <a:off x="818712" y="2222287"/>
            <a:ext cx="10554574" cy="4462718"/>
          </a:xfrm>
        </p:spPr>
        <p:txBody>
          <a:bodyPr/>
          <a:lstStyle/>
          <a:p>
            <a:pPr marL="0" indent="0">
              <a:buNone/>
            </a:pPr>
            <a:r>
              <a:rPr lang="en-US" dirty="0"/>
              <a:t>The Network Manager class we implemented serves as the core communication hub with the server and is designed to dually support both TCP and RUDP connections. The highlight of this class is the prefetch mechanism, which operates in the background using dedicated threads (_TCP_prefetch_loop and _rudp_prefetch_loop). </a:t>
            </a:r>
          </a:p>
          <a:p>
            <a:pPr marL="0" indent="0">
              <a:buNone/>
            </a:pPr>
            <a:r>
              <a:rPr lang="en-US" dirty="0"/>
              <a:t>This mechanism intelligently monitors the user's reading progress and proactively requests upcoming chapters from the server—defaulting to 5 chapters ahead—into a local buffer, ensuring that the reading experience is completely seamless and ensuring the user doesn’t experience latency issues due to an overloaded network. </a:t>
            </a:r>
          </a:p>
          <a:p>
            <a:pPr marL="0" indent="0">
              <a:buNone/>
            </a:pPr>
            <a:r>
              <a:rPr lang="en-US" dirty="0"/>
              <a:t>Concurrently, for RUDP data transfer, the class runs a continuous listening loop (_rudp_listen_loop) that catches incoming data packets, sends acknowledgements (ACKs), and utilizes a ChapterAssembler object to reconstruct chapters that were split into chunks before updating the user interface. Beyond streaming the actual chapters, the network manager also centralizes all peripheral operations with the server, such as user authentication, fetching the available book list, and synchronizing reading progress.</a:t>
            </a:r>
          </a:p>
        </p:txBody>
      </p:sp>
      <p:sp>
        <p:nvSpPr>
          <p:cNvPr id="4" name="TextBox 3">
            <a:extLst>
              <a:ext uri="{FF2B5EF4-FFF2-40B4-BE49-F238E27FC236}">
                <a16:creationId xmlns:a16="http://schemas.microsoft.com/office/drawing/2014/main" id="{968BBE62-D780-4F55-88C4-CD4D1B7F5196}"/>
              </a:ext>
            </a:extLst>
          </p:cNvPr>
          <p:cNvSpPr txBox="1"/>
          <p:nvPr/>
        </p:nvSpPr>
        <p:spPr>
          <a:xfrm>
            <a:off x="11373286" y="262522"/>
            <a:ext cx="649537" cy="369332"/>
          </a:xfrm>
          <a:prstGeom prst="rect">
            <a:avLst/>
          </a:prstGeom>
          <a:noFill/>
        </p:spPr>
        <p:txBody>
          <a:bodyPr wrap="none" rtlCol="0">
            <a:spAutoFit/>
          </a:bodyPr>
          <a:lstStyle/>
          <a:p>
            <a:r>
              <a:rPr lang="he-IL" dirty="0"/>
              <a:t>בס״ד</a:t>
            </a:r>
            <a:endParaRPr lang="en-US" dirty="0"/>
          </a:p>
        </p:txBody>
      </p:sp>
    </p:spTree>
    <p:extLst>
      <p:ext uri="{BB962C8B-B14F-4D97-AF65-F5344CB8AC3E}">
        <p14:creationId xmlns:p14="http://schemas.microsoft.com/office/powerpoint/2010/main" val="1349226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2D43-9579-B55C-93ED-46E92DC5F0C8}"/>
              </a:ext>
            </a:extLst>
          </p:cNvPr>
          <p:cNvSpPr>
            <a:spLocks noGrp="1"/>
          </p:cNvSpPr>
          <p:nvPr>
            <p:ph type="title"/>
          </p:nvPr>
        </p:nvSpPr>
        <p:spPr/>
        <p:txBody>
          <a:bodyPr/>
          <a:lstStyle/>
          <a:p>
            <a:r>
              <a:rPr lang="en-US" dirty="0"/>
              <a:t>Application Server</a:t>
            </a:r>
          </a:p>
        </p:txBody>
      </p:sp>
      <p:sp>
        <p:nvSpPr>
          <p:cNvPr id="3" name="Content Placeholder 2">
            <a:extLst>
              <a:ext uri="{FF2B5EF4-FFF2-40B4-BE49-F238E27FC236}">
                <a16:creationId xmlns:a16="http://schemas.microsoft.com/office/drawing/2014/main" id="{15160EFA-733C-EFDF-B510-6C0EE753DEAC}"/>
              </a:ext>
            </a:extLst>
          </p:cNvPr>
          <p:cNvSpPr>
            <a:spLocks noGrp="1"/>
          </p:cNvSpPr>
          <p:nvPr>
            <p:ph idx="1"/>
          </p:nvPr>
        </p:nvSpPr>
        <p:spPr>
          <a:xfrm>
            <a:off x="827424" y="1162509"/>
            <a:ext cx="10554574" cy="6313328"/>
          </a:xfrm>
        </p:spPr>
        <p:txBody>
          <a:bodyPr>
            <a:normAutofit/>
          </a:bodyPr>
          <a:lstStyle/>
          <a:p>
            <a:pPr marL="0" indent="0">
              <a:buNone/>
            </a:pPr>
            <a:r>
              <a:rPr lang="en-US" sz="1600" dirty="0"/>
              <a:t>The application server we have implemented acts as the central backend for the project, running both TCP and RUDP services concurrently on separate threads, and is operated thusly:</a:t>
            </a:r>
          </a:p>
          <a:p>
            <a:pPr marL="0" indent="0">
              <a:buNone/>
            </a:pPr>
            <a:r>
              <a:rPr lang="en-US" sz="1600" dirty="0"/>
              <a:t>first, it maintains a repository of authorized users and available e-books (to be transferred to a database in the future), handling incoming login attempts by validating Caesar-ciphered credentials. </a:t>
            </a:r>
          </a:p>
          <a:p>
            <a:pPr marL="0" indent="0">
              <a:buNone/>
            </a:pPr>
            <a:r>
              <a:rPr lang="en-US" sz="1600" dirty="0"/>
              <a:t>When a client requests a specific book, the server utilizes the ebooklib and BeautifulSoup libraries to parse the EPUB files, extracting the HTML content into readable plain text chapters and caching these results in memory to optimize any subsequent requests. To further conserve network bandwidth, it dynamically resizes and compresses book cover images into lightweight base64 strings before sending them. </a:t>
            </a:r>
          </a:p>
          <a:p>
            <a:pPr marL="0" indent="0">
              <a:buNone/>
            </a:pPr>
            <a:r>
              <a:rPr lang="en-US" sz="1600" dirty="0"/>
              <a:t>For clients connected via TCP, the server maintains a persistent streaming loop, delivering full chapters sequentially as requested. </a:t>
            </a:r>
          </a:p>
          <a:p>
            <a:pPr marL="0" indent="0">
              <a:buNone/>
            </a:pPr>
            <a:r>
              <a:rPr lang="en-US" sz="1600" dirty="0"/>
              <a:t>Conversely, to support RUDP connections, the server ensures data reliability utilizing a dedicated background retransmission loop that monitors unacknowledged messages, and intelligently divides large chapter texts into smaller, 500-character chunks to safely navigate UDP size constraints before dispatching them to the client.</a:t>
            </a:r>
          </a:p>
        </p:txBody>
      </p:sp>
      <p:sp>
        <p:nvSpPr>
          <p:cNvPr id="4" name="TextBox 3">
            <a:extLst>
              <a:ext uri="{FF2B5EF4-FFF2-40B4-BE49-F238E27FC236}">
                <a16:creationId xmlns:a16="http://schemas.microsoft.com/office/drawing/2014/main" id="{8D910EEB-C626-80C6-1B26-B2AAC6A681A7}"/>
              </a:ext>
            </a:extLst>
          </p:cNvPr>
          <p:cNvSpPr txBox="1"/>
          <p:nvPr/>
        </p:nvSpPr>
        <p:spPr>
          <a:xfrm>
            <a:off x="10917192" y="447188"/>
            <a:ext cx="649537" cy="369332"/>
          </a:xfrm>
          <a:prstGeom prst="rect">
            <a:avLst/>
          </a:prstGeom>
          <a:noFill/>
        </p:spPr>
        <p:txBody>
          <a:bodyPr wrap="none" rtlCol="0">
            <a:spAutoFit/>
          </a:bodyPr>
          <a:lstStyle/>
          <a:p>
            <a:pPr marL="0" algn="r" defTabSz="457200" rtl="1" eaLnBrk="1" latinLnBrk="0" hangingPunct="1"/>
            <a:r>
              <a:rPr lang="he-IL" dirty="0"/>
              <a:t>בס״ד</a:t>
            </a:r>
            <a:endParaRPr lang="en-US" dirty="0"/>
          </a:p>
        </p:txBody>
      </p:sp>
    </p:spTree>
    <p:extLst>
      <p:ext uri="{BB962C8B-B14F-4D97-AF65-F5344CB8AC3E}">
        <p14:creationId xmlns:p14="http://schemas.microsoft.com/office/powerpoint/2010/main" val="1173541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2DD3-317B-46A9-1AE5-3186D31308E7}"/>
              </a:ext>
            </a:extLst>
          </p:cNvPr>
          <p:cNvSpPr>
            <a:spLocks noGrp="1"/>
          </p:cNvSpPr>
          <p:nvPr>
            <p:ph type="title"/>
          </p:nvPr>
        </p:nvSpPr>
        <p:spPr/>
        <p:txBody>
          <a:bodyPr/>
          <a:lstStyle/>
          <a:p>
            <a:r>
              <a:rPr lang="en-US" dirty="0"/>
              <a:t>Client Side</a:t>
            </a:r>
          </a:p>
        </p:txBody>
      </p:sp>
      <p:sp>
        <p:nvSpPr>
          <p:cNvPr id="3" name="Content Placeholder 2">
            <a:extLst>
              <a:ext uri="{FF2B5EF4-FFF2-40B4-BE49-F238E27FC236}">
                <a16:creationId xmlns:a16="http://schemas.microsoft.com/office/drawing/2014/main" id="{2F6026A5-E394-39AD-C22C-9447AE3C744D}"/>
              </a:ext>
            </a:extLst>
          </p:cNvPr>
          <p:cNvSpPr>
            <a:spLocks noGrp="1"/>
          </p:cNvSpPr>
          <p:nvPr>
            <p:ph idx="1"/>
          </p:nvPr>
        </p:nvSpPr>
        <p:spPr>
          <a:xfrm>
            <a:off x="810000" y="2100649"/>
            <a:ext cx="10554574" cy="4400701"/>
          </a:xfrm>
        </p:spPr>
        <p:txBody>
          <a:bodyPr>
            <a:normAutofit lnSpcReduction="10000"/>
          </a:bodyPr>
          <a:lstStyle/>
          <a:p>
            <a:pPr marL="0" indent="0">
              <a:buNone/>
            </a:pPr>
            <a:r>
              <a:rPr lang="en-US" sz="1600" dirty="0"/>
              <a:t>The graphical user interface we have implemented serves as the interactive frontend for the client, built using the </a:t>
            </a:r>
            <a:r>
              <a:rPr lang="en-US" dirty="0"/>
              <a:t>tkinter</a:t>
            </a:r>
            <a:r>
              <a:rPr lang="en-US" sz="1600" dirty="0"/>
              <a:t> library, and is operated as follows: </a:t>
            </a:r>
          </a:p>
          <a:p>
            <a:pPr marL="0" indent="0">
              <a:buNone/>
            </a:pPr>
            <a:r>
              <a:rPr lang="en-US" sz="1600" dirty="0"/>
              <a:t>first, the user is greeted by the </a:t>
            </a:r>
            <a:r>
              <a:rPr lang="en-US" dirty="0"/>
              <a:t>Login Page</a:t>
            </a:r>
            <a:r>
              <a:rPr lang="en-US" sz="1600" dirty="0"/>
              <a:t>, which handles the initial server connection, protocol selection (TCP or RUDP), intelligent DNS resolution for server URLs, and user authentication via the network manager. </a:t>
            </a:r>
          </a:p>
          <a:p>
            <a:pPr marL="0" indent="0">
              <a:buNone/>
            </a:pPr>
            <a:r>
              <a:rPr lang="en-US" sz="1600" dirty="0"/>
              <a:t>Upon successful login, the </a:t>
            </a:r>
            <a:r>
              <a:rPr lang="en-US" dirty="0"/>
              <a:t>Start Page</a:t>
            </a:r>
            <a:r>
              <a:rPr lang="en-US" sz="1600" dirty="0"/>
              <a:t> acts as a central hub, providing options to either open a local EPUB file or browse the server's library. If the user navigates to the </a:t>
            </a:r>
            <a:r>
              <a:rPr lang="en-US" dirty="0"/>
              <a:t>Request Page</a:t>
            </a:r>
            <a:r>
              <a:rPr lang="en-US" sz="1600" dirty="0"/>
              <a:t>, the application dynamically generates a visual gallery of available books by decoding base64 cover images, while also prominently displaying a "Continue Reading" button to instantly resume their last accessed book. </a:t>
            </a:r>
          </a:p>
          <a:p>
            <a:pPr marL="0" indent="0">
              <a:buNone/>
            </a:pPr>
            <a:r>
              <a:rPr lang="en-US" sz="1600" dirty="0"/>
              <a:t>The core reading experience is delivered by the </a:t>
            </a:r>
            <a:r>
              <a:rPr lang="en-US" dirty="0"/>
              <a:t>Read Page</a:t>
            </a:r>
            <a:r>
              <a:rPr lang="en-US" sz="1600" dirty="0"/>
              <a:t>, which seamlessly handles both locally loaded files and live-streamed chapters pulled directly from the network manager's prefetch buffer. To ensure a comfortable user experience, this reading room is highly customizable, offering dynamic font size and family adjustments, toggleable visual themes (such as Dark Mode and Sepia), and automatic right-to-left (RTL) text alignment detection for Hebrew books.</a:t>
            </a:r>
          </a:p>
          <a:p>
            <a:pPr marL="0" indent="0">
              <a:buNone/>
            </a:pPr>
            <a:r>
              <a:rPr lang="en-US" sz="1600" dirty="0"/>
              <a:t>Our goal was to create a user friendly and highly functional frontend basis for future expansion, as this is a project we plan on enhancing further later.</a:t>
            </a:r>
          </a:p>
        </p:txBody>
      </p:sp>
      <p:sp>
        <p:nvSpPr>
          <p:cNvPr id="4" name="TextBox 3">
            <a:extLst>
              <a:ext uri="{FF2B5EF4-FFF2-40B4-BE49-F238E27FC236}">
                <a16:creationId xmlns:a16="http://schemas.microsoft.com/office/drawing/2014/main" id="{F7B00756-1CD2-D9FA-9C95-A1A9E7A1736F}"/>
              </a:ext>
            </a:extLst>
          </p:cNvPr>
          <p:cNvSpPr txBox="1"/>
          <p:nvPr/>
        </p:nvSpPr>
        <p:spPr>
          <a:xfrm>
            <a:off x="11269363" y="262522"/>
            <a:ext cx="649537" cy="369332"/>
          </a:xfrm>
          <a:prstGeom prst="rect">
            <a:avLst/>
          </a:prstGeom>
          <a:noFill/>
        </p:spPr>
        <p:txBody>
          <a:bodyPr wrap="none" rtlCol="0">
            <a:spAutoFit/>
          </a:bodyPr>
          <a:lstStyle/>
          <a:p>
            <a:r>
              <a:rPr lang="he-IL" dirty="0"/>
              <a:t>בס״ד</a:t>
            </a:r>
            <a:endParaRPr lang="en-US" dirty="0"/>
          </a:p>
        </p:txBody>
      </p:sp>
    </p:spTree>
    <p:extLst>
      <p:ext uri="{BB962C8B-B14F-4D97-AF65-F5344CB8AC3E}">
        <p14:creationId xmlns:p14="http://schemas.microsoft.com/office/powerpoint/2010/main" val="3027773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2D8BF-FF66-A714-F2F0-40626B5653AE}"/>
              </a:ext>
            </a:extLst>
          </p:cNvPr>
          <p:cNvSpPr>
            <a:spLocks noGrp="1"/>
          </p:cNvSpPr>
          <p:nvPr>
            <p:ph type="title"/>
          </p:nvPr>
        </p:nvSpPr>
        <p:spPr/>
        <p:txBody>
          <a:bodyPr/>
          <a:lstStyle/>
          <a:p>
            <a:r>
              <a:rPr lang="en-US" dirty="0"/>
              <a:t>UDP Proxy</a:t>
            </a:r>
          </a:p>
        </p:txBody>
      </p:sp>
      <p:sp>
        <p:nvSpPr>
          <p:cNvPr id="3" name="Content Placeholder 2">
            <a:extLst>
              <a:ext uri="{FF2B5EF4-FFF2-40B4-BE49-F238E27FC236}">
                <a16:creationId xmlns:a16="http://schemas.microsoft.com/office/drawing/2014/main" id="{1ADA2B35-F1B7-C48F-389B-8545EBF0052C}"/>
              </a:ext>
            </a:extLst>
          </p:cNvPr>
          <p:cNvSpPr>
            <a:spLocks noGrp="1"/>
          </p:cNvSpPr>
          <p:nvPr>
            <p:ph idx="1"/>
          </p:nvPr>
        </p:nvSpPr>
        <p:spPr>
          <a:xfrm>
            <a:off x="818712" y="2222287"/>
            <a:ext cx="10554574" cy="4363864"/>
          </a:xfrm>
        </p:spPr>
        <p:txBody>
          <a:bodyPr>
            <a:normAutofit lnSpcReduction="10000"/>
          </a:bodyPr>
          <a:lstStyle/>
          <a:p>
            <a:pPr marL="0" indent="0">
              <a:buNone/>
            </a:pPr>
            <a:r>
              <a:rPr lang="en-US" dirty="0"/>
              <a:t>To rigorously test the reliability and fault tolerance of our RUDP implementation, we designed and deployed a UDP Chaos Proxy that sits securely between the client and the server.</a:t>
            </a:r>
          </a:p>
          <a:p>
            <a:pPr marL="0" indent="0">
              <a:buNone/>
            </a:pPr>
            <a:r>
              <a:rPr lang="en-US" dirty="0"/>
              <a:t>Instead of connecting directly to the server's RUDP port, the client connects to the proxy (hosted on port 12347), which then intercepts and selectively forwards the traffic to the actual server on a different port (12349). The proxy operates via two concurrent background threads (_forward for Client-to-Server and _reverse for Server-to-Client) that simulate harsh, real-world network conditions. </a:t>
            </a:r>
          </a:p>
          <a:p>
            <a:pPr marL="0" indent="0">
              <a:buNone/>
            </a:pPr>
            <a:r>
              <a:rPr lang="en-US" dirty="0"/>
              <a:t>By configuring command-line arguments, we can artificially inject controlled percentages of packet loss, latency (delay and jitter), and packet duplication into the stream. When a packet is intentionally dropped by the proxy, it generates and sends a specialized "##DROPPED##" marker payload. </a:t>
            </a:r>
          </a:p>
          <a:p>
            <a:pPr marL="0" indent="0">
              <a:buNone/>
            </a:pPr>
            <a:r>
              <a:rPr lang="en-US" dirty="0"/>
              <a:t>This clever addition allows us to use network analyzers like Wireshark to visually identify exactly which packets were lost in transit and verify that our RUDP retransmission loops successfully recovered the missing data, ensuring the application remains robust even under severe network instability.</a:t>
            </a:r>
          </a:p>
        </p:txBody>
      </p:sp>
      <p:sp>
        <p:nvSpPr>
          <p:cNvPr id="4" name="TextBox 3">
            <a:extLst>
              <a:ext uri="{FF2B5EF4-FFF2-40B4-BE49-F238E27FC236}">
                <a16:creationId xmlns:a16="http://schemas.microsoft.com/office/drawing/2014/main" id="{C086EE79-F8DE-78D5-F246-DFBADD9D316E}"/>
              </a:ext>
            </a:extLst>
          </p:cNvPr>
          <p:cNvSpPr txBox="1"/>
          <p:nvPr/>
        </p:nvSpPr>
        <p:spPr>
          <a:xfrm>
            <a:off x="11199972" y="271849"/>
            <a:ext cx="649537" cy="369332"/>
          </a:xfrm>
          <a:prstGeom prst="rect">
            <a:avLst/>
          </a:prstGeom>
          <a:noFill/>
        </p:spPr>
        <p:txBody>
          <a:bodyPr wrap="none" rtlCol="0">
            <a:spAutoFit/>
          </a:bodyPr>
          <a:lstStyle/>
          <a:p>
            <a:pPr marL="0" algn="r" defTabSz="457200" rtl="1" eaLnBrk="1" latinLnBrk="0" hangingPunct="1"/>
            <a:r>
              <a:rPr lang="he-IL" dirty="0"/>
              <a:t>בס״ד</a:t>
            </a:r>
            <a:endParaRPr lang="en-US" dirty="0"/>
          </a:p>
        </p:txBody>
      </p:sp>
    </p:spTree>
    <p:extLst>
      <p:ext uri="{BB962C8B-B14F-4D97-AF65-F5344CB8AC3E}">
        <p14:creationId xmlns:p14="http://schemas.microsoft.com/office/powerpoint/2010/main" val="2502047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79277119-B941-4A45-9322-FA2BC135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23">
            <a:extLst>
              <a:ext uri="{FF2B5EF4-FFF2-40B4-BE49-F238E27FC236}">
                <a16:creationId xmlns:a16="http://schemas.microsoft.com/office/drawing/2014/main" id="{DFDB457D-F372-428B-A10D-41080EF93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266841F-A386-3C21-8E6A-0379F4525670}"/>
              </a:ext>
            </a:extLst>
          </p:cNvPr>
          <p:cNvSpPr>
            <a:spLocks noGrp="1"/>
          </p:cNvSpPr>
          <p:nvPr>
            <p:ph type="title"/>
          </p:nvPr>
        </p:nvSpPr>
        <p:spPr>
          <a:xfrm>
            <a:off x="8134349" y="1819275"/>
            <a:ext cx="3606137" cy="4222087"/>
          </a:xfrm>
        </p:spPr>
        <p:txBody>
          <a:bodyPr vert="horz" lIns="91440" tIns="45720" rIns="91440" bIns="45720" rtlCol="0" anchor="t">
            <a:normAutofit/>
          </a:bodyPr>
          <a:lstStyle/>
          <a:p>
            <a:r>
              <a:rPr lang="en-US" sz="4400"/>
              <a:t>A state diagram for the full system</a:t>
            </a:r>
          </a:p>
        </p:txBody>
      </p:sp>
      <p:sp>
        <p:nvSpPr>
          <p:cNvPr id="6" name="TextBox 5">
            <a:extLst>
              <a:ext uri="{FF2B5EF4-FFF2-40B4-BE49-F238E27FC236}">
                <a16:creationId xmlns:a16="http://schemas.microsoft.com/office/drawing/2014/main" id="{E16CC533-D81A-B636-C440-2AF55F4E68C7}"/>
              </a:ext>
            </a:extLst>
          </p:cNvPr>
          <p:cNvSpPr txBox="1"/>
          <p:nvPr/>
        </p:nvSpPr>
        <p:spPr>
          <a:xfrm>
            <a:off x="10974098" y="161925"/>
            <a:ext cx="766388" cy="359439"/>
          </a:xfrm>
          <a:prstGeom prst="rect">
            <a:avLst/>
          </a:prstGeom>
        </p:spPr>
        <p:txBody>
          <a:bodyPr vert="horz" lIns="91440" tIns="45720" rIns="91440" bIns="45720" rtlCol="0" anchor="b">
            <a:normAutofit lnSpcReduction="10000"/>
          </a:bodyPr>
          <a:lstStyle/>
          <a:p>
            <a:pPr>
              <a:spcBef>
                <a:spcPct val="20000"/>
              </a:spcBef>
              <a:spcAft>
                <a:spcPts val="600"/>
              </a:spcAft>
              <a:buClr>
                <a:schemeClr val="accent1"/>
              </a:buClr>
            </a:pPr>
            <a:r>
              <a:rPr lang="en-US" kern="1200" dirty="0" err="1">
                <a:solidFill>
                  <a:srgbClr val="FFFFFF"/>
                </a:solidFill>
                <a:latin typeface="+mn-lt"/>
                <a:ea typeface="+mn-ea"/>
                <a:cs typeface="+mn-cs"/>
              </a:rPr>
              <a:t>בס״ד</a:t>
            </a:r>
            <a:endParaRPr lang="en-US" kern="1200" dirty="0">
              <a:solidFill>
                <a:srgbClr val="FFFFFF"/>
              </a:solidFill>
              <a:latin typeface="+mn-lt"/>
              <a:ea typeface="+mn-ea"/>
              <a:cs typeface="+mn-cs"/>
            </a:endParaRPr>
          </a:p>
        </p:txBody>
      </p:sp>
      <p:pic>
        <p:nvPicPr>
          <p:cNvPr id="5" name="Content Placeholder 4">
            <a:extLst>
              <a:ext uri="{FF2B5EF4-FFF2-40B4-BE49-F238E27FC236}">
                <a16:creationId xmlns:a16="http://schemas.microsoft.com/office/drawing/2014/main" id="{1D08B479-09CF-A40D-0CCE-94645F07D1E4}"/>
              </a:ext>
            </a:extLst>
          </p:cNvPr>
          <p:cNvPicPr>
            <a:picLocks noGrp="1" noChangeAspect="1"/>
          </p:cNvPicPr>
          <p:nvPr>
            <p:ph idx="1"/>
          </p:nvPr>
        </p:nvPicPr>
        <p:blipFill>
          <a:blip r:embed="rId3"/>
          <a:stretch>
            <a:fillRect/>
          </a:stretch>
        </p:blipFill>
        <p:spPr>
          <a:xfrm>
            <a:off x="0" y="521364"/>
            <a:ext cx="7576209" cy="5814738"/>
          </a:xfrm>
          <a:prstGeom prst="roundRect">
            <a:avLst>
              <a:gd name="adj" fmla="val 3876"/>
            </a:avLst>
          </a:prstGeom>
          <a:ln>
            <a:solidFill>
              <a:schemeClr val="accent1"/>
            </a:solidFill>
          </a:ln>
          <a:effectLst>
            <a:glow rad="980170">
              <a:schemeClr val="accent1">
                <a:alpha val="86626"/>
              </a:schemeClr>
            </a:glow>
            <a:softEdge rad="0"/>
          </a:effectLst>
          <a:scene3d>
            <a:camera prst="orthographicFront">
              <a:rot lat="0" lon="21599983" rev="0"/>
            </a:camera>
            <a:lightRig rig="threePt" dir="t"/>
          </a:scene3d>
        </p:spPr>
      </p:pic>
    </p:spTree>
    <p:extLst>
      <p:ext uri="{BB962C8B-B14F-4D97-AF65-F5344CB8AC3E}">
        <p14:creationId xmlns:p14="http://schemas.microsoft.com/office/powerpoint/2010/main" val="723323941"/>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5FA1F-C0C7-AA66-7439-CCD9A8D8615D}"/>
              </a:ext>
            </a:extLst>
          </p:cNvPr>
          <p:cNvSpPr>
            <a:spLocks noGrp="1"/>
          </p:cNvSpPr>
          <p:nvPr>
            <p:ph type="title"/>
          </p:nvPr>
        </p:nvSpPr>
        <p:spPr/>
        <p:txBody>
          <a:bodyPr/>
          <a:lstStyle/>
          <a:p>
            <a:r>
              <a:rPr lang="en-US" dirty="0"/>
              <a:t>Overcoming latency issues</a:t>
            </a:r>
          </a:p>
        </p:txBody>
      </p:sp>
      <p:sp>
        <p:nvSpPr>
          <p:cNvPr id="3" name="Content Placeholder 2">
            <a:extLst>
              <a:ext uri="{FF2B5EF4-FFF2-40B4-BE49-F238E27FC236}">
                <a16:creationId xmlns:a16="http://schemas.microsoft.com/office/drawing/2014/main" id="{161DD81D-2C82-9AEA-8A12-0946DD44157C}"/>
              </a:ext>
            </a:extLst>
          </p:cNvPr>
          <p:cNvSpPr>
            <a:spLocks noGrp="1"/>
          </p:cNvSpPr>
          <p:nvPr>
            <p:ph idx="1"/>
          </p:nvPr>
        </p:nvSpPr>
        <p:spPr>
          <a:xfrm>
            <a:off x="818712" y="2222287"/>
            <a:ext cx="10554574" cy="4188525"/>
          </a:xfrm>
        </p:spPr>
        <p:txBody>
          <a:bodyPr>
            <a:normAutofit/>
          </a:bodyPr>
          <a:lstStyle/>
          <a:p>
            <a:r>
              <a:rPr lang="en-US" b="1" dirty="0"/>
              <a:t>Client-Side Prefetching:</a:t>
            </a:r>
            <a:r>
              <a:rPr lang="en-US" dirty="0"/>
              <a:t> The Network Manager runs dedicated background threads (_TCP_prefetch_loop and _rudp_prefetch_loop) that continuously fetch upcoming chapters. By maintaining a buffer of 5 chapters ahead of the user's current position, page turns are instant and unaffected by network dips.</a:t>
            </a:r>
          </a:p>
          <a:p>
            <a:r>
              <a:rPr lang="en-US" b="1" dirty="0"/>
              <a:t>Server-Side Memory Caching:</a:t>
            </a:r>
            <a:r>
              <a:rPr lang="en-US" dirty="0"/>
              <a:t> Parsing EPUB files and extracting text via BeautifulSoup is resource-intensive. The server parses a book only once and stores the text array in an internal dictionary (book_cache), delivering instant responses for any subsequent requests for that same book.</a:t>
            </a:r>
          </a:p>
          <a:p>
            <a:r>
              <a:rPr lang="en-US" b="1" dirty="0"/>
              <a:t>Thumbnail Compression:</a:t>
            </a:r>
            <a:r>
              <a:rPr lang="en-US" dirty="0"/>
              <a:t> To prevent the Request Page gallery from causing network bottlenecks, the server dynamically resizes book covers into lightweight 100x130 thumbnails and applies heavy JPEG compression before transmitting them as base64 strings.</a:t>
            </a:r>
          </a:p>
        </p:txBody>
      </p:sp>
    </p:spTree>
    <p:extLst>
      <p:ext uri="{BB962C8B-B14F-4D97-AF65-F5344CB8AC3E}">
        <p14:creationId xmlns:p14="http://schemas.microsoft.com/office/powerpoint/2010/main" val="4243291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32F90-0A59-C5DC-CAA4-0F01EC70BFF4}"/>
              </a:ext>
            </a:extLst>
          </p:cNvPr>
          <p:cNvSpPr>
            <a:spLocks noGrp="1"/>
          </p:cNvSpPr>
          <p:nvPr>
            <p:ph type="title"/>
          </p:nvPr>
        </p:nvSpPr>
        <p:spPr/>
        <p:txBody>
          <a:bodyPr/>
          <a:lstStyle/>
          <a:p>
            <a:r>
              <a:rPr lang="en-US" dirty="0"/>
              <a:t>Overcoming packet loss (RUDP)</a:t>
            </a:r>
          </a:p>
        </p:txBody>
      </p:sp>
      <p:sp>
        <p:nvSpPr>
          <p:cNvPr id="3" name="Content Placeholder 2">
            <a:extLst>
              <a:ext uri="{FF2B5EF4-FFF2-40B4-BE49-F238E27FC236}">
                <a16:creationId xmlns:a16="http://schemas.microsoft.com/office/drawing/2014/main" id="{00F43103-7525-9CF4-96A4-6F9DC6B79130}"/>
              </a:ext>
            </a:extLst>
          </p:cNvPr>
          <p:cNvSpPr>
            <a:spLocks noGrp="1"/>
          </p:cNvSpPr>
          <p:nvPr>
            <p:ph idx="1"/>
          </p:nvPr>
        </p:nvSpPr>
        <p:spPr>
          <a:xfrm>
            <a:off x="818712" y="2222287"/>
            <a:ext cx="10554574" cy="4321388"/>
          </a:xfrm>
        </p:spPr>
        <p:txBody>
          <a:bodyPr/>
          <a:lstStyle/>
          <a:p>
            <a:r>
              <a:rPr lang="en-US" b="1" dirty="0"/>
              <a:t>Sequence &amp; Acknowledgment System:</a:t>
            </a:r>
            <a:r>
              <a:rPr lang="en-US" dirty="0"/>
              <a:t> Every RUDP data packet carries a unique Sequence Number in its binary header. The receiving side is required to immediately fire back an ACK packet matching that specific sequence number.</a:t>
            </a:r>
          </a:p>
          <a:p>
            <a:r>
              <a:rPr lang="en-US" b="1" dirty="0"/>
              <a:t>Dedicated Retransmission Loop:</a:t>
            </a:r>
            <a:r>
              <a:rPr lang="en-US" dirty="0"/>
              <a:t> The server utilizes a background thread (udp_retransmission_loop) that actively monitors a dictionary of unacknowledged messages. If an ACK is not received within a 0.5-second timeout, the server automatically retransmits the missing packet.</a:t>
            </a:r>
          </a:p>
          <a:p>
            <a:r>
              <a:rPr lang="en-US" b="1" dirty="0"/>
              <a:t>Retry Limits:</a:t>
            </a:r>
            <a:r>
              <a:rPr lang="en-US" dirty="0"/>
              <a:t> To prevent infinite hanging on disconnected clients, the retransmission loop gives up and drops the packet after 5 unsuccessful attempts.</a:t>
            </a:r>
          </a:p>
          <a:p>
            <a:r>
              <a:rPr lang="en-US" b="1" dirty="0"/>
              <a:t>Client-Side Safety Nets:</a:t>
            </a:r>
            <a:r>
              <a:rPr lang="en-US" dirty="0"/>
              <a:t> Critical client requests (like login attempts or fetching the book list) are wrapped in localized reliability loops. If the server_response_event isn't triggered within a few seconds, the client assumes the request was lost and resends it.</a:t>
            </a:r>
          </a:p>
        </p:txBody>
      </p:sp>
    </p:spTree>
    <p:extLst>
      <p:ext uri="{BB962C8B-B14F-4D97-AF65-F5344CB8AC3E}">
        <p14:creationId xmlns:p14="http://schemas.microsoft.com/office/powerpoint/2010/main" val="1956934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B608D-9294-BA10-2951-E694FA9FF768}"/>
              </a:ext>
            </a:extLst>
          </p:cNvPr>
          <p:cNvSpPr>
            <a:spLocks noGrp="1"/>
          </p:cNvSpPr>
          <p:nvPr>
            <p:ph type="title"/>
          </p:nvPr>
        </p:nvSpPr>
        <p:spPr/>
        <p:txBody>
          <a:bodyPr/>
          <a:lstStyle/>
          <a:p>
            <a:r>
              <a:rPr lang="en-US" dirty="0"/>
              <a:t>External Libraries &amp; AI Code Declaration</a:t>
            </a:r>
          </a:p>
        </p:txBody>
      </p:sp>
      <p:sp>
        <p:nvSpPr>
          <p:cNvPr id="3" name="Content Placeholder 2">
            <a:extLst>
              <a:ext uri="{FF2B5EF4-FFF2-40B4-BE49-F238E27FC236}">
                <a16:creationId xmlns:a16="http://schemas.microsoft.com/office/drawing/2014/main" id="{50D0728C-5EED-799D-5842-568AC49F55FE}"/>
              </a:ext>
            </a:extLst>
          </p:cNvPr>
          <p:cNvSpPr>
            <a:spLocks noGrp="1"/>
          </p:cNvSpPr>
          <p:nvPr>
            <p:ph idx="1"/>
          </p:nvPr>
        </p:nvSpPr>
        <p:spPr>
          <a:xfrm>
            <a:off x="304800" y="2157413"/>
            <a:ext cx="7038975" cy="4253400"/>
          </a:xfrm>
        </p:spPr>
        <p:txBody>
          <a:bodyPr>
            <a:normAutofit/>
          </a:bodyPr>
          <a:lstStyle/>
          <a:p>
            <a:r>
              <a:rPr lang="en-US" b="1" dirty="0"/>
              <a:t>External Libraries (Git/Pip):</a:t>
            </a:r>
            <a:r>
              <a:rPr lang="en-US" dirty="0"/>
              <a:t> ebooklib &amp; BeautifulSoup (bs4): Used to parse EPUB files and extract readable HTML text.</a:t>
            </a:r>
          </a:p>
          <a:p>
            <a:r>
              <a:rPr lang="en-US" dirty="0"/>
              <a:t>scapy: Utilized in the DHCP server to craft and send raw ARP and BOOTP packets.</a:t>
            </a:r>
          </a:p>
          <a:p>
            <a:r>
              <a:rPr lang="en-US" dirty="0"/>
              <a:t>netifaces: Used to dynamically retrieve the host machine's gateway and subnet mask.</a:t>
            </a:r>
          </a:p>
          <a:p>
            <a:r>
              <a:rPr lang="en-US" dirty="0"/>
              <a:t>Pillow (PIL): Used for resizing and compressing book cover images.</a:t>
            </a:r>
          </a:p>
          <a:p>
            <a:r>
              <a:rPr lang="en-US" dirty="0"/>
              <a:t>dnspython: Employed for intelligent DNS resolution in the client.</a:t>
            </a:r>
          </a:p>
          <a:p>
            <a:r>
              <a:rPr lang="en-US" dirty="0"/>
              <a:t>tkinter: The standard Python library used to build the Graphical User Interface.</a:t>
            </a:r>
          </a:p>
        </p:txBody>
      </p:sp>
      <p:sp>
        <p:nvSpPr>
          <p:cNvPr id="4" name="TextBox 3">
            <a:extLst>
              <a:ext uri="{FF2B5EF4-FFF2-40B4-BE49-F238E27FC236}">
                <a16:creationId xmlns:a16="http://schemas.microsoft.com/office/drawing/2014/main" id="{98C628F2-3E18-387C-DA15-16C10D97F847}"/>
              </a:ext>
            </a:extLst>
          </p:cNvPr>
          <p:cNvSpPr txBox="1"/>
          <p:nvPr/>
        </p:nvSpPr>
        <p:spPr>
          <a:xfrm>
            <a:off x="7343775" y="2157412"/>
            <a:ext cx="4543426"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t>AI-Generated Code:</a:t>
            </a:r>
            <a:r>
              <a:rPr lang="en-US" dirty="0"/>
              <a:t> * In the DHCP server implementation (</a:t>
            </a:r>
            <a:r>
              <a:rPr lang="en-US" dirty="0" err="1"/>
              <a:t>DHCP.py</a:t>
            </a:r>
            <a:r>
              <a:rPr lang="en-US" dirty="0"/>
              <a:t>), lines 40 to 47 were generated by AI.</a:t>
            </a:r>
          </a:p>
          <a:p>
            <a:pPr marL="285750" indent="-285750">
              <a:buFont typeface="Arial" panose="020B0604020202020204" pitchFamily="34" charset="0"/>
              <a:buChar char="•"/>
            </a:pPr>
            <a:r>
              <a:rPr lang="en-US" b="1" dirty="0"/>
              <a:t>Why we used it:</a:t>
            </a:r>
            <a:r>
              <a:rPr lang="en-US" dirty="0"/>
              <a:t> We needed to dynamically extract the default gateway and netmask to configure the DHCP IP Pool. We were not previously familiar with the netifaces library, so we used AI to generate the specific syntax required to pull this data from the gws and addrs dictionaries.</a:t>
            </a:r>
          </a:p>
          <a:p>
            <a:pPr marL="285750" indent="-285750">
              <a:buFont typeface="Arial" panose="020B0604020202020204" pitchFamily="34" charset="0"/>
              <a:buChar char="•"/>
            </a:pPr>
            <a:r>
              <a:rPr lang="en-US" dirty="0"/>
              <a:t>Additionally, a few parts of the GUI were AI generated, until we learned the syntax.</a:t>
            </a:r>
          </a:p>
        </p:txBody>
      </p:sp>
    </p:spTree>
    <p:extLst>
      <p:ext uri="{BB962C8B-B14F-4D97-AF65-F5344CB8AC3E}">
        <p14:creationId xmlns:p14="http://schemas.microsoft.com/office/powerpoint/2010/main" val="1597554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266F2-9BF3-1D4F-9ECA-7A9922BF19D7}"/>
              </a:ext>
            </a:extLst>
          </p:cNvPr>
          <p:cNvSpPr>
            <a:spLocks noGrp="1"/>
          </p:cNvSpPr>
          <p:nvPr>
            <p:ph type="title"/>
          </p:nvPr>
        </p:nvSpPr>
        <p:spPr/>
        <p:txBody>
          <a:bodyPr/>
          <a:lstStyle/>
          <a:p>
            <a:r>
              <a:rPr lang="en-US" dirty="0"/>
              <a:t>Summary &amp; Future Expansion (Scalability)</a:t>
            </a:r>
          </a:p>
        </p:txBody>
      </p:sp>
      <p:sp>
        <p:nvSpPr>
          <p:cNvPr id="3" name="Content Placeholder 2">
            <a:extLst>
              <a:ext uri="{FF2B5EF4-FFF2-40B4-BE49-F238E27FC236}">
                <a16:creationId xmlns:a16="http://schemas.microsoft.com/office/drawing/2014/main" id="{384F7B24-C85B-C837-312F-89BD89CA934A}"/>
              </a:ext>
            </a:extLst>
          </p:cNvPr>
          <p:cNvSpPr>
            <a:spLocks noGrp="1"/>
          </p:cNvSpPr>
          <p:nvPr>
            <p:ph idx="1"/>
          </p:nvPr>
        </p:nvSpPr>
        <p:spPr>
          <a:xfrm>
            <a:off x="818712" y="1871663"/>
            <a:ext cx="10554574" cy="4986337"/>
          </a:xfrm>
        </p:spPr>
        <p:txBody>
          <a:bodyPr/>
          <a:lstStyle/>
          <a:p>
            <a:r>
              <a:rPr lang="en-US" b="1" dirty="0"/>
              <a:t>Database Integration:</a:t>
            </a:r>
            <a:r>
              <a:rPr lang="en-US" dirty="0"/>
              <a:t> The current application uses hardcoded lists for authorized users and available books. To scale, we plan to migrate this data to a structured, secure database (like SQLite or PostgreSQL) to manage thousands of user accounts and massive digital libraries.</a:t>
            </a:r>
          </a:p>
          <a:p>
            <a:r>
              <a:rPr lang="en-US" b="1" dirty="0"/>
              <a:t>Admin Control Panel:</a:t>
            </a:r>
            <a:r>
              <a:rPr lang="en-US" dirty="0"/>
              <a:t> The Client object already includes a dormant boolean flag for admin privileges. We plan to build a dedicated dashboard allowing administrators to upload new books, monitor network traffic, and manage user access seamlessly.</a:t>
            </a:r>
          </a:p>
          <a:p>
            <a:r>
              <a:rPr lang="en-US" b="1" dirty="0"/>
              <a:t>Expanded Format Support:</a:t>
            </a:r>
            <a:r>
              <a:rPr lang="en-US" dirty="0"/>
              <a:t> The server's parsing engine is currently built around EPUBs. Future versions will be extended to support and stream other popular document types, such as PDF, MOBI, or raw TXT files.</a:t>
            </a:r>
          </a:p>
          <a:p>
            <a:r>
              <a:rPr lang="en-US" b="1" dirty="0"/>
              <a:t>Handling Massive Concurrency:</a:t>
            </a:r>
            <a:r>
              <a:rPr lang="en-US" dirty="0"/>
              <a:t> The current server architecture spawns a new thread for every connected TCP client and every incoming RUDP request. While this works beautifully for a small network and a limited number of clients, probably up to a few hundreds, it isn’t enough for a legitimate library that might need to handle tens of thousands of client, so we will need to explore our options on how to expand this. </a:t>
            </a:r>
          </a:p>
        </p:txBody>
      </p:sp>
    </p:spTree>
    <p:extLst>
      <p:ext uri="{BB962C8B-B14F-4D97-AF65-F5344CB8AC3E}">
        <p14:creationId xmlns:p14="http://schemas.microsoft.com/office/powerpoint/2010/main" val="12641493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259</TotalTime>
  <Words>2632</Words>
  <Application>Microsoft Macintosh PowerPoint</Application>
  <PresentationFormat>Widescreen</PresentationFormat>
  <Paragraphs>104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Century Gothic</vt:lpstr>
      <vt:lpstr>Wingdings 2</vt:lpstr>
      <vt:lpstr>Quotable</vt:lpstr>
      <vt:lpstr>Poor Man’s Kindle</vt:lpstr>
      <vt:lpstr>So what is our project and what does it include?</vt:lpstr>
      <vt:lpstr>So what components comprise our library?</vt:lpstr>
      <vt:lpstr>DNS Server</vt:lpstr>
      <vt:lpstr>DHCP server</vt:lpstr>
      <vt:lpstr>Client and Book objects</vt:lpstr>
      <vt:lpstr>Protocol</vt:lpstr>
      <vt:lpstr>Network Manager</vt:lpstr>
      <vt:lpstr>Application Server</vt:lpstr>
      <vt:lpstr>Client Side</vt:lpstr>
      <vt:lpstr>UDP Proxy</vt:lpstr>
      <vt:lpstr>A state diagram for the full system</vt:lpstr>
      <vt:lpstr>Overcoming latency issues</vt:lpstr>
      <vt:lpstr>Overcoming packet loss (RUDP)</vt:lpstr>
      <vt:lpstr>External Libraries &amp; AI Code Declaration</vt:lpstr>
      <vt:lpstr>Summary &amp; Future Expansion (Scalability)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יגל גרוס</dc:creator>
  <cp:lastModifiedBy>יגל גרוס</cp:lastModifiedBy>
  <cp:revision>6</cp:revision>
  <dcterms:created xsi:type="dcterms:W3CDTF">2026-03-11T16:59:20Z</dcterms:created>
  <dcterms:modified xsi:type="dcterms:W3CDTF">2026-03-15T12:16:45Z</dcterms:modified>
</cp:coreProperties>
</file>